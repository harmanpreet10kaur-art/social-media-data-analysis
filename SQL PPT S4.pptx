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8" r:id="rId4"/>
  </p:sldMasterIdLst>
  <p:notesMasterIdLst>
    <p:notesMasterId r:id="rId25"/>
  </p:notesMasterIdLst>
  <p:sldIdLst>
    <p:sldId id="281" r:id="rId5"/>
    <p:sldId id="283" r:id="rId6"/>
    <p:sldId id="296" r:id="rId7"/>
    <p:sldId id="297" r:id="rId8"/>
    <p:sldId id="298" r:id="rId9"/>
    <p:sldId id="299" r:id="rId10"/>
    <p:sldId id="300" r:id="rId11"/>
    <p:sldId id="303" r:id="rId12"/>
    <p:sldId id="302" r:id="rId13"/>
    <p:sldId id="305" r:id="rId14"/>
    <p:sldId id="304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3" d="100"/>
          <a:sy n="83" d="100"/>
        </p:scale>
        <p:origin x="68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1\Documents\Book1(Auto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1\Documents\Book1(Auto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1\Documents\Book1(Auto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1\Documents\Book1(AutoRecovere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1\Documents\Book2(AutoRecovered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1\Documents\Book2(AutoRecovered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User</a:t>
            </a:r>
            <a:r>
              <a:rPr lang="en-US" baseline="0"/>
              <a:t> Activity Distribution</a:t>
            </a:r>
            <a:endParaRPr lang="en-US"/>
          </a:p>
        </c:rich>
      </c:tx>
      <c:overlay val="0"/>
      <c:spPr>
        <a:noFill/>
        <a:ln>
          <a:solidFill>
            <a:schemeClr val="bg2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'q0'!$B$1</c:f>
              <c:strCache>
                <c:ptCount val="1"/>
                <c:pt idx="0">
                  <c:v>total_users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9E-4DE4-A951-25A9D7C09E0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9E-4DE4-A951-25A9D7C09E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9E-4DE4-A951-25A9D7C09E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9E-4DE4-A951-25A9D7C09E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'q0'!$A$2:$A$5</c:f>
              <c:strCache>
                <c:ptCount val="4"/>
                <c:pt idx="0">
                  <c:v>Highly engaged</c:v>
                </c:pt>
                <c:pt idx="1">
                  <c:v>Inactive User</c:v>
                </c:pt>
                <c:pt idx="2">
                  <c:v>Moderately active</c:v>
                </c:pt>
                <c:pt idx="3">
                  <c:v>Content creator</c:v>
                </c:pt>
              </c:strCache>
            </c:strRef>
          </c:cat>
          <c:val>
            <c:numRef>
              <c:f>'q0'!$B$2:$B$5</c:f>
              <c:numCache>
                <c:formatCode>General</c:formatCode>
                <c:ptCount val="4"/>
                <c:pt idx="0">
                  <c:v>77</c:v>
                </c:pt>
                <c:pt idx="1">
                  <c:v>13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9E-4DE4-A951-25A9D7C09E0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dirty="0"/>
              <a:t>Top Users By Engagement</a:t>
            </a:r>
          </a:p>
        </c:rich>
      </c:tx>
      <c:overlay val="0"/>
      <c:spPr>
        <a:noFill/>
        <a:ln>
          <a:solidFill>
            <a:schemeClr val="bg2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9"/>
          <c:order val="9"/>
          <c:tx>
            <c:strRef>
              <c:f>'q11'!$A$2:$A$11</c:f>
              <c:strCache>
                <c:ptCount val="10"/>
                <c:pt idx="0">
                  <c:v>23</c:v>
                </c:pt>
                <c:pt idx="1">
                  <c:v>59</c:v>
                </c:pt>
                <c:pt idx="2">
                  <c:v>88</c:v>
                </c:pt>
                <c:pt idx="3">
                  <c:v>86</c:v>
                </c:pt>
                <c:pt idx="4">
                  <c:v>58</c:v>
                </c:pt>
                <c:pt idx="5">
                  <c:v>29</c:v>
                </c:pt>
                <c:pt idx="6">
                  <c:v>77</c:v>
                </c:pt>
                <c:pt idx="7">
                  <c:v>43</c:v>
                </c:pt>
                <c:pt idx="8">
                  <c:v>13</c:v>
                </c:pt>
                <c:pt idx="9">
                  <c:v>52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'q11'!$B$2:$B$11</c:f>
              <c:strCache>
                <c:ptCount val="10"/>
                <c:pt idx="0">
                  <c:v>Eveline95</c:v>
                </c:pt>
                <c:pt idx="1">
                  <c:v>Cesar93</c:v>
                </c:pt>
                <c:pt idx="2">
                  <c:v>Clint27</c:v>
                </c:pt>
                <c:pt idx="3">
                  <c:v>Delfina_VonRueden68</c:v>
                </c:pt>
                <c:pt idx="4">
                  <c:v>Aurelie71</c:v>
                </c:pt>
                <c:pt idx="5">
                  <c:v>Jaime53</c:v>
                </c:pt>
                <c:pt idx="6">
                  <c:v>Donald.Fritsch</c:v>
                </c:pt>
                <c:pt idx="7">
                  <c:v>Janet.Armstrong</c:v>
                </c:pt>
                <c:pt idx="8">
                  <c:v>Alexandro35</c:v>
                </c:pt>
                <c:pt idx="9">
                  <c:v>Zack_Kemmer93</c:v>
                </c:pt>
              </c:strCache>
            </c:strRef>
          </c:cat>
          <c:val>
            <c:numRef>
              <c:f>'q11'!$G$2:$G$11</c:f>
              <c:numCache>
                <c:formatCode>General</c:formatCode>
                <c:ptCount val="10"/>
                <c:pt idx="0">
                  <c:v>482</c:v>
                </c:pt>
                <c:pt idx="1">
                  <c:v>462</c:v>
                </c:pt>
                <c:pt idx="2">
                  <c:v>452</c:v>
                </c:pt>
                <c:pt idx="3">
                  <c:v>424</c:v>
                </c:pt>
                <c:pt idx="4">
                  <c:v>395</c:v>
                </c:pt>
                <c:pt idx="5">
                  <c:v>379</c:v>
                </c:pt>
                <c:pt idx="6">
                  <c:v>324</c:v>
                </c:pt>
                <c:pt idx="7">
                  <c:v>298</c:v>
                </c:pt>
                <c:pt idx="8">
                  <c:v>296</c:v>
                </c:pt>
                <c:pt idx="9">
                  <c:v>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B-4286-A09C-0BEA770123E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49880543"/>
        <c:axId val="549881503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'q11'!$A$2</c15:sqref>
                        </c15:formulaRef>
                      </c:ext>
                    </c:extLst>
                    <c:strCache>
                      <c:ptCount val="1"/>
                      <c:pt idx="0">
                        <c:v>23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'q11'!$A$2:$A$11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23</c:v>
                      </c:pt>
                      <c:pt idx="1">
                        <c:v>59</c:v>
                      </c:pt>
                      <c:pt idx="2">
                        <c:v>88</c:v>
                      </c:pt>
                      <c:pt idx="3">
                        <c:v>86</c:v>
                      </c:pt>
                      <c:pt idx="4">
                        <c:v>58</c:v>
                      </c:pt>
                      <c:pt idx="5">
                        <c:v>29</c:v>
                      </c:pt>
                      <c:pt idx="6">
                        <c:v>77</c:v>
                      </c:pt>
                      <c:pt idx="7">
                        <c:v>43</c:v>
                      </c:pt>
                      <c:pt idx="8">
                        <c:v>13</c:v>
                      </c:pt>
                      <c:pt idx="9">
                        <c:v>52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25BB-4286-A09C-0BEA770123EA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'q11'!$B$1</c15:sqref>
                        </c15:formulaRef>
                      </c:ext>
                    </c:extLst>
                    <c:strCache>
                      <c:ptCount val="1"/>
                      <c:pt idx="0">
                        <c:v>username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25BB-4286-A09C-0BEA770123EA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'q11'!$C$1</c15:sqref>
                        </c15:formulaRef>
                      </c:ext>
                    </c:extLst>
                    <c:strCache>
                      <c:ptCount val="1"/>
                      <c:pt idx="0">
                        <c:v>total_posts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12</c:v>
                      </c:pt>
                      <c:pt idx="1">
                        <c:v>10</c:v>
                      </c:pt>
                      <c:pt idx="2">
                        <c:v>11</c:v>
                      </c:pt>
                      <c:pt idx="3">
                        <c:v>9</c:v>
                      </c:pt>
                      <c:pt idx="4">
                        <c:v>8</c:v>
                      </c:pt>
                      <c:pt idx="5">
                        <c:v>8</c:v>
                      </c:pt>
                      <c:pt idx="6">
                        <c:v>6</c:v>
                      </c:pt>
                      <c:pt idx="7">
                        <c:v>5</c:v>
                      </c:pt>
                      <c:pt idx="8">
                        <c:v>5</c:v>
                      </c:pt>
                      <c:pt idx="9">
                        <c:v>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25BB-4286-A09C-0BEA770123EA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'q11'!$D$1</c15:sqref>
                        </c15:formulaRef>
                      </c:ext>
                    </c:extLst>
                    <c:strCache>
                      <c:ptCount val="1"/>
                      <c:pt idx="0">
                        <c:v>total_likes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'q11'!$D$2:$D$11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76</c:v>
                      </c:pt>
                      <c:pt idx="1">
                        <c:v>77</c:v>
                      </c:pt>
                      <c:pt idx="2">
                        <c:v>76</c:v>
                      </c:pt>
                      <c:pt idx="3">
                        <c:v>74</c:v>
                      </c:pt>
                      <c:pt idx="4">
                        <c:v>76</c:v>
                      </c:pt>
                      <c:pt idx="5">
                        <c:v>73</c:v>
                      </c:pt>
                      <c:pt idx="6">
                        <c:v>73</c:v>
                      </c:pt>
                      <c:pt idx="7">
                        <c:v>68</c:v>
                      </c:pt>
                      <c:pt idx="8">
                        <c:v>72</c:v>
                      </c:pt>
                      <c:pt idx="9">
                        <c:v>68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25BB-4286-A09C-0BEA770123EA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'q11'!$E$1</c15:sqref>
                        </c15:formulaRef>
                      </c:ext>
                    </c:extLst>
                    <c:strCache>
                      <c:ptCount val="1"/>
                      <c:pt idx="0">
                        <c:v>total_comments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'q11'!$E$2:$E$11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329</c:v>
                      </c:pt>
                      <c:pt idx="1">
                        <c:v>308</c:v>
                      </c:pt>
                      <c:pt idx="2">
                        <c:v>299</c:v>
                      </c:pt>
                      <c:pt idx="3">
                        <c:v>273</c:v>
                      </c:pt>
                      <c:pt idx="4">
                        <c:v>242</c:v>
                      </c:pt>
                      <c:pt idx="5">
                        <c:v>229</c:v>
                      </c:pt>
                      <c:pt idx="6">
                        <c:v>174</c:v>
                      </c:pt>
                      <c:pt idx="7">
                        <c:v>154</c:v>
                      </c:pt>
                      <c:pt idx="8">
                        <c:v>148</c:v>
                      </c:pt>
                      <c:pt idx="9">
                        <c:v>151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25BB-4286-A09C-0BEA770123EA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'q11'!$F$1</c15:sqref>
                        </c15:formulaRef>
                      </c:ext>
                    </c:extLst>
                    <c:strCache>
                      <c:ptCount val="1"/>
                      <c:pt idx="0">
                        <c:v>total_followers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'q11'!$F$2:$F$11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77</c:v>
                      </c:pt>
                      <c:pt idx="1">
                        <c:v>77</c:v>
                      </c:pt>
                      <c:pt idx="2">
                        <c:v>77</c:v>
                      </c:pt>
                      <c:pt idx="3">
                        <c:v>77</c:v>
                      </c:pt>
                      <c:pt idx="4">
                        <c:v>77</c:v>
                      </c:pt>
                      <c:pt idx="5">
                        <c:v>77</c:v>
                      </c:pt>
                      <c:pt idx="6">
                        <c:v>77</c:v>
                      </c:pt>
                      <c:pt idx="7">
                        <c:v>76</c:v>
                      </c:pt>
                      <c:pt idx="8">
                        <c:v>76</c:v>
                      </c:pt>
                      <c:pt idx="9">
                        <c:v>76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25BB-4286-A09C-0BEA770123EA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'q11'!$G$1</c15:sqref>
                        </c15:formulaRef>
                      </c:ext>
                    </c:extLst>
                    <c:strCache>
                      <c:ptCount val="1"/>
                      <c:pt idx="0">
                        <c:v>ambassador_score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'q11'!$G$2:$G$11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482</c:v>
                      </c:pt>
                      <c:pt idx="1">
                        <c:v>462</c:v>
                      </c:pt>
                      <c:pt idx="2">
                        <c:v>452</c:v>
                      </c:pt>
                      <c:pt idx="3">
                        <c:v>424</c:v>
                      </c:pt>
                      <c:pt idx="4">
                        <c:v>395</c:v>
                      </c:pt>
                      <c:pt idx="5">
                        <c:v>379</c:v>
                      </c:pt>
                      <c:pt idx="6">
                        <c:v>324</c:v>
                      </c:pt>
                      <c:pt idx="7">
                        <c:v>298</c:v>
                      </c:pt>
                      <c:pt idx="8">
                        <c:v>296</c:v>
                      </c:pt>
                      <c:pt idx="9">
                        <c:v>295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25BB-4286-A09C-0BEA770123EA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'q11'!$B$1:$B$11</c15:sqref>
                        </c15:formulaRef>
                      </c:ext>
                    </c:extLst>
                    <c:strCache>
                      <c:ptCount val="11"/>
                      <c:pt idx="0">
                        <c:v>username</c:v>
                      </c:pt>
                      <c:pt idx="1">
                        <c:v>Eveline95</c:v>
                      </c:pt>
                      <c:pt idx="2">
                        <c:v>Cesar93</c:v>
                      </c:pt>
                      <c:pt idx="3">
                        <c:v>Clint27</c:v>
                      </c:pt>
                      <c:pt idx="4">
                        <c:v>Delfina_VonRueden68</c:v>
                      </c:pt>
                      <c:pt idx="5">
                        <c:v>Aurelie71</c:v>
                      </c:pt>
                      <c:pt idx="6">
                        <c:v>Jaime53</c:v>
                      </c:pt>
                      <c:pt idx="7">
                        <c:v>Donald.Fritsch</c:v>
                      </c:pt>
                      <c:pt idx="8">
                        <c:v>Janet.Armstrong</c:v>
                      </c:pt>
                      <c:pt idx="9">
                        <c:v>Alexandro35</c:v>
                      </c:pt>
                      <c:pt idx="10">
                        <c:v>Zack_Kemmer93</c:v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'q11'!$G$1:$G$11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482</c:v>
                      </c:pt>
                      <c:pt idx="2">
                        <c:v>462</c:v>
                      </c:pt>
                      <c:pt idx="3">
                        <c:v>452</c:v>
                      </c:pt>
                      <c:pt idx="4">
                        <c:v>424</c:v>
                      </c:pt>
                      <c:pt idx="5">
                        <c:v>395</c:v>
                      </c:pt>
                      <c:pt idx="6">
                        <c:v>379</c:v>
                      </c:pt>
                      <c:pt idx="7">
                        <c:v>324</c:v>
                      </c:pt>
                      <c:pt idx="8">
                        <c:v>298</c:v>
                      </c:pt>
                      <c:pt idx="9">
                        <c:v>296</c:v>
                      </c:pt>
                      <c:pt idx="10">
                        <c:v>295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25BB-4286-A09C-0BEA770123EA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'q11'!$A$1:$A$11</c15:sqref>
                        </c15:formulaRef>
                      </c:ext>
                    </c:extLst>
                    <c:strCache>
                      <c:ptCount val="11"/>
                      <c:pt idx="0">
                        <c:v>user_id</c:v>
                      </c:pt>
                      <c:pt idx="1">
                        <c:v>23</c:v>
                      </c:pt>
                      <c:pt idx="2">
                        <c:v>59</c:v>
                      </c:pt>
                      <c:pt idx="3">
                        <c:v>88</c:v>
                      </c:pt>
                      <c:pt idx="4">
                        <c:v>86</c:v>
                      </c:pt>
                      <c:pt idx="5">
                        <c:v>58</c:v>
                      </c:pt>
                      <c:pt idx="6">
                        <c:v>29</c:v>
                      </c:pt>
                      <c:pt idx="7">
                        <c:v>77</c:v>
                      </c:pt>
                      <c:pt idx="8">
                        <c:v>43</c:v>
                      </c:pt>
                      <c:pt idx="9">
                        <c:v>13</c:v>
                      </c:pt>
                      <c:pt idx="10">
                        <c:v>52</c:v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'q11'!$B$2:$B$11</c15:sqref>
                        </c15:formulaRef>
                      </c:ext>
                    </c:extLst>
                    <c:strCache>
                      <c:ptCount val="10"/>
                      <c:pt idx="0">
                        <c:v>Eveline95</c:v>
                      </c:pt>
                      <c:pt idx="1">
                        <c:v>Cesar93</c:v>
                      </c:pt>
                      <c:pt idx="2">
                        <c:v>Clint27</c:v>
                      </c:pt>
                      <c:pt idx="3">
                        <c:v>Delfina_VonRueden68</c:v>
                      </c:pt>
                      <c:pt idx="4">
                        <c:v>Aurelie71</c:v>
                      </c:pt>
                      <c:pt idx="5">
                        <c:v>Jaime53</c:v>
                      </c:pt>
                      <c:pt idx="6">
                        <c:v>Donald.Fritsch</c:v>
                      </c:pt>
                      <c:pt idx="7">
                        <c:v>Janet.Armstrong</c:v>
                      </c:pt>
                      <c:pt idx="8">
                        <c:v>Alexandro35</c:v>
                      </c:pt>
                      <c:pt idx="9">
                        <c:v>Zack_Kemmer93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'q11'!$G$1:$G$11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482</c:v>
                      </c:pt>
                      <c:pt idx="2">
                        <c:v>462</c:v>
                      </c:pt>
                      <c:pt idx="3">
                        <c:v>452</c:v>
                      </c:pt>
                      <c:pt idx="4">
                        <c:v>424</c:v>
                      </c:pt>
                      <c:pt idx="5">
                        <c:v>395</c:v>
                      </c:pt>
                      <c:pt idx="6">
                        <c:v>379</c:v>
                      </c:pt>
                      <c:pt idx="7">
                        <c:v>324</c:v>
                      </c:pt>
                      <c:pt idx="8">
                        <c:v>298</c:v>
                      </c:pt>
                      <c:pt idx="9">
                        <c:v>296</c:v>
                      </c:pt>
                      <c:pt idx="10">
                        <c:v>295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25BB-4286-A09C-0BEA770123EA}"/>
                  </c:ext>
                </c:extLst>
              </c15:ser>
            </c15:filteredBarSeries>
          </c:ext>
        </c:extLst>
      </c:barChart>
      <c:catAx>
        <c:axId val="549880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9881503"/>
        <c:crosses val="autoZero"/>
        <c:auto val="1"/>
        <c:lblAlgn val="ctr"/>
        <c:lblOffset val="100"/>
        <c:noMultiLvlLbl val="0"/>
      </c:catAx>
      <c:valAx>
        <c:axId val="54988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9880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[Book1(AutoRecovered).xlsx]q8!PivotTable13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dirty="0"/>
              <a:t>Average</a:t>
            </a:r>
            <a:r>
              <a:rPr lang="en-IN" sz="1600" baseline="0" dirty="0"/>
              <a:t> </a:t>
            </a:r>
            <a:r>
              <a:rPr lang="en-IN" sz="1600" baseline="0" dirty="0" err="1"/>
              <a:t>Engagment</a:t>
            </a:r>
            <a:r>
              <a:rPr lang="en-IN" sz="1600" baseline="0" dirty="0"/>
              <a:t> by user segment</a:t>
            </a:r>
            <a:endParaRPr lang="en-IN" sz="1600" dirty="0"/>
          </a:p>
        </c:rich>
      </c:tx>
      <c:overlay val="0"/>
      <c:spPr>
        <a:noFill/>
        <a:ln>
          <a:solidFill>
            <a:schemeClr val="bg2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'q8'!$J$2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245.9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9CF-421C-AC3D-0B09590F096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65.7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CF-421C-AC3D-0B09590F09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'q8'!$I$3:$I$7</c:f>
              <c:strCache>
                <c:ptCount val="4"/>
                <c:pt idx="0">
                  <c:v>Content Creator</c:v>
                </c:pt>
                <c:pt idx="1">
                  <c:v>Highly Engaged User</c:v>
                </c:pt>
                <c:pt idx="2">
                  <c:v>Inactive User</c:v>
                </c:pt>
                <c:pt idx="3">
                  <c:v>Moderately Active User</c:v>
                </c:pt>
              </c:strCache>
            </c:strRef>
          </c:cat>
          <c:val>
            <c:numRef>
              <c:f>'q8'!$J$3:$J$7</c:f>
              <c:numCache>
                <c:formatCode>General</c:formatCode>
                <c:ptCount val="4"/>
                <c:pt idx="0">
                  <c:v>685</c:v>
                </c:pt>
                <c:pt idx="1">
                  <c:v>245.88679245283018</c:v>
                </c:pt>
                <c:pt idx="2">
                  <c:v>0</c:v>
                </c:pt>
                <c:pt idx="3">
                  <c:v>65.722222222222229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CF-421C-AC3D-0B09590F096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86586175"/>
        <c:axId val="1886584255"/>
      </c:barChart>
      <c:catAx>
        <c:axId val="188658617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584255"/>
        <c:crosses val="autoZero"/>
        <c:auto val="1"/>
        <c:lblAlgn val="ctr"/>
        <c:lblOffset val="100"/>
        <c:noMultiLvlLbl val="0"/>
      </c:catAx>
      <c:valAx>
        <c:axId val="18865842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586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dirty="0"/>
              <a:t>Top</a:t>
            </a:r>
            <a:r>
              <a:rPr lang="en-IN" sz="1600" baseline="0" dirty="0"/>
              <a:t> Influencer by ambassador score</a:t>
            </a:r>
          </a:p>
        </c:rich>
      </c:tx>
      <c:overlay val="0"/>
      <c:spPr>
        <a:noFill/>
        <a:ln>
          <a:solidFill>
            <a:schemeClr val="bg2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Ambassodor score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'q11'!$B$2:$B$11</c:f>
              <c:strCache>
                <c:ptCount val="10"/>
                <c:pt idx="0">
                  <c:v>Eveline95</c:v>
                </c:pt>
                <c:pt idx="1">
                  <c:v>Cesar93</c:v>
                </c:pt>
                <c:pt idx="2">
                  <c:v>Clint27</c:v>
                </c:pt>
                <c:pt idx="3">
                  <c:v>Delfina_VonRueden68</c:v>
                </c:pt>
                <c:pt idx="4">
                  <c:v>Aurelie71</c:v>
                </c:pt>
                <c:pt idx="5">
                  <c:v>Jaime53</c:v>
                </c:pt>
                <c:pt idx="6">
                  <c:v>Donald.Fritsch</c:v>
                </c:pt>
                <c:pt idx="7">
                  <c:v>Janet.Armstrong</c:v>
                </c:pt>
                <c:pt idx="8">
                  <c:v>Alexandro35</c:v>
                </c:pt>
                <c:pt idx="9">
                  <c:v>Zack_Kemmer93</c:v>
                </c:pt>
              </c:strCache>
            </c:strRef>
          </c:cat>
          <c:val>
            <c:numRef>
              <c:f>'q11'!$G$2:$G$11</c:f>
              <c:numCache>
                <c:formatCode>General</c:formatCode>
                <c:ptCount val="10"/>
                <c:pt idx="0">
                  <c:v>482</c:v>
                </c:pt>
                <c:pt idx="1">
                  <c:v>462</c:v>
                </c:pt>
                <c:pt idx="2">
                  <c:v>452</c:v>
                </c:pt>
                <c:pt idx="3">
                  <c:v>424</c:v>
                </c:pt>
                <c:pt idx="4">
                  <c:v>395</c:v>
                </c:pt>
                <c:pt idx="5">
                  <c:v>379</c:v>
                </c:pt>
                <c:pt idx="6">
                  <c:v>324</c:v>
                </c:pt>
                <c:pt idx="7">
                  <c:v>298</c:v>
                </c:pt>
                <c:pt idx="8">
                  <c:v>296</c:v>
                </c:pt>
                <c:pt idx="9">
                  <c:v>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98-4778-AB6C-1559633029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21041711"/>
        <c:axId val="622455311"/>
      </c:barChart>
      <c:catAx>
        <c:axId val="621041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455311"/>
        <c:crosses val="autoZero"/>
        <c:auto val="1"/>
        <c:lblAlgn val="ctr"/>
        <c:lblOffset val="100"/>
        <c:noMultiLvlLbl val="0"/>
      </c:catAx>
      <c:valAx>
        <c:axId val="62245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1041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dirty="0"/>
              <a:t>User</a:t>
            </a:r>
            <a:r>
              <a:rPr lang="en-IN" sz="1600" baseline="0" dirty="0"/>
              <a:t> Engagement by joining year</a:t>
            </a:r>
            <a:endParaRPr lang="en-IN" sz="1600" dirty="0"/>
          </a:p>
        </c:rich>
      </c:tx>
      <c:layout>
        <c:manualLayout>
          <c:xMode val="edge"/>
          <c:yMode val="edge"/>
          <c:x val="0.35039778926501863"/>
          <c:y val="4.5581850527421489E-2"/>
        </c:manualLayout>
      </c:layout>
      <c:overlay val="0"/>
      <c:spPr>
        <a:noFill/>
        <a:ln>
          <a:solidFill>
            <a:schemeClr val="bg2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'joining year'!$A$2</c:f>
              <c:strCache>
                <c:ptCount val="1"/>
                <c:pt idx="0">
                  <c:v>2016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'joining year'!$B$1:$E$1</c:f>
              <c:strCache>
                <c:ptCount val="4"/>
                <c:pt idx="0">
                  <c:v>total_users</c:v>
                </c:pt>
                <c:pt idx="1">
                  <c:v>total_posts</c:v>
                </c:pt>
                <c:pt idx="2">
                  <c:v>total_likes</c:v>
                </c:pt>
                <c:pt idx="3">
                  <c:v>total_comments</c:v>
                </c:pt>
              </c:strCache>
            </c:strRef>
          </c:cat>
          <c:val>
            <c:numRef>
              <c:f>'joining year'!$B$2:$E$2</c:f>
              <c:numCache>
                <c:formatCode>General</c:formatCode>
                <c:ptCount val="4"/>
                <c:pt idx="0">
                  <c:v>65</c:v>
                </c:pt>
                <c:pt idx="1">
                  <c:v>161</c:v>
                </c:pt>
                <c:pt idx="2">
                  <c:v>52</c:v>
                </c:pt>
                <c:pt idx="3">
                  <c:v>5077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D-48FB-8206-CD2CC440B3CB}"/>
            </c:ext>
          </c:extLst>
        </c:ser>
        <c:ser>
          <c:idx val="1"/>
          <c:order val="1"/>
          <c:tx>
            <c:strRef>
              <c:f>'joining year'!$A$3</c:f>
              <c:strCache>
                <c:ptCount val="1"/>
                <c:pt idx="0">
                  <c:v>2017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'joining year'!$B$1:$E$1</c:f>
              <c:strCache>
                <c:ptCount val="4"/>
                <c:pt idx="0">
                  <c:v>total_users</c:v>
                </c:pt>
                <c:pt idx="1">
                  <c:v>total_posts</c:v>
                </c:pt>
                <c:pt idx="2">
                  <c:v>total_likes</c:v>
                </c:pt>
                <c:pt idx="3">
                  <c:v>total_comments</c:v>
                </c:pt>
              </c:strCache>
            </c:strRef>
          </c:cat>
          <c:val>
            <c:numRef>
              <c:f>'joining year'!$B$3:$E$3</c:f>
              <c:numCache>
                <c:formatCode>General</c:formatCode>
                <c:ptCount val="4"/>
                <c:pt idx="0">
                  <c:v>35</c:v>
                </c:pt>
                <c:pt idx="1">
                  <c:v>96</c:v>
                </c:pt>
                <c:pt idx="2">
                  <c:v>25</c:v>
                </c:pt>
                <c:pt idx="3">
                  <c:v>2411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4D-48FB-8206-CD2CC440B3C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642092767"/>
        <c:axId val="1642100927"/>
      </c:barChart>
      <c:catAx>
        <c:axId val="164209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100927"/>
        <c:crosses val="autoZero"/>
        <c:auto val="1"/>
        <c:lblAlgn val="ctr"/>
        <c:lblOffset val="100"/>
        <c:noMultiLvlLbl val="0"/>
      </c:catAx>
      <c:valAx>
        <c:axId val="16421009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092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cap="none" spc="20" baseline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User Segmentation By Number of Posts</a:t>
            </a:r>
            <a:endParaRPr lang="en-IN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'post segment'!$B$1</c:f>
              <c:strCache>
                <c:ptCount val="1"/>
                <c:pt idx="0">
                  <c:v>total_users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'post segment'!$A$2:$A$5</c:f>
              <c:strCache>
                <c:ptCount val="4"/>
                <c:pt idx="0">
                  <c:v>3-5 posts</c:v>
                </c:pt>
                <c:pt idx="1">
                  <c:v>1-2 posts</c:v>
                </c:pt>
                <c:pt idx="2">
                  <c:v>No posts</c:v>
                </c:pt>
                <c:pt idx="3">
                  <c:v>5+ posts</c:v>
                </c:pt>
              </c:strCache>
            </c:strRef>
          </c:cat>
          <c:val>
            <c:numRef>
              <c:f>'post segment'!$B$2:$B$5</c:f>
              <c:numCache>
                <c:formatCode>General</c:formatCode>
                <c:ptCount val="4"/>
                <c:pt idx="0">
                  <c:v>36</c:v>
                </c:pt>
                <c:pt idx="1">
                  <c:v>31</c:v>
                </c:pt>
                <c:pt idx="2">
                  <c:v>26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4E-4A19-A1FE-8D82F46B50A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642090847"/>
        <c:axId val="1642098047"/>
      </c:barChart>
      <c:catAx>
        <c:axId val="1642090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098047"/>
        <c:crosses val="autoZero"/>
        <c:auto val="1"/>
        <c:lblAlgn val="ctr"/>
        <c:lblOffset val="100"/>
        <c:noMultiLvlLbl val="0"/>
      </c:catAx>
      <c:valAx>
        <c:axId val="16420980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090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94D2E-832E-4454-88B1-C6C215C9E55C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A0A09-6FA2-432A-878F-290AC51C72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3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25202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3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17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6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466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2041236"/>
            <a:ext cx="4937760" cy="54109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17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21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0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0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37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0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48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4789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31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38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6/6/2019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79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2" r:id="rId12"/>
    <p:sldLayoutId id="2147483934" r:id="rId13"/>
    <p:sldLayoutId id="2147483935" r:id="rId14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urple tinted chalkboard">
            <a:extLst>
              <a:ext uri="{FF2B5EF4-FFF2-40B4-BE49-F238E27FC236}">
                <a16:creationId xmlns:a16="http://schemas.microsoft.com/office/drawing/2014/main" id="{12751E25-7490-4E9F-B6B6-99147D39E6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r="-1" b="21257"/>
          <a:stretch/>
        </p:blipFill>
        <p:spPr>
          <a:xfrm>
            <a:off x="474133" y="270933"/>
            <a:ext cx="11243734" cy="5909733"/>
          </a:xfrm>
          <a:prstGeom prst="rect">
            <a:avLst/>
          </a:prstGeom>
          <a:blipFill>
            <a:blip r:embed="rId3">
              <a:alphaModFix amt="5000"/>
            </a:blip>
            <a:tile tx="0" ty="0" sx="100000" sy="100000" flip="none" algn="tl"/>
          </a:blip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B1457-35E0-409B-98CD-F11D19CA6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133" y="2533070"/>
            <a:ext cx="6794886" cy="2032001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5300" b="1" dirty="0">
                <a:solidFill>
                  <a:schemeClr val="tx1"/>
                </a:solidFill>
              </a:rPr>
              <a:t>SQL PROJECT </a:t>
            </a:r>
            <a:r>
              <a:rPr lang="en-US" sz="5300" dirty="0">
                <a:solidFill>
                  <a:schemeClr val="tx1"/>
                </a:solidFill>
              </a:rPr>
              <a:t>: INSTAGRAM USER DATA ANALYSIS</a:t>
            </a:r>
            <a:br>
              <a:rPr lang="en-US" sz="4800" dirty="0">
                <a:solidFill>
                  <a:schemeClr val="tx1"/>
                </a:solidFill>
              </a:rPr>
            </a:br>
            <a:r>
              <a:rPr lang="en-US" sz="4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DD245-17CD-4FBE-A9CF-AC997273D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072" y="4328328"/>
            <a:ext cx="3524682" cy="8614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- HARMANPREET KAUR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4AEB56-E75B-D800-2751-51BFF4F62E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-18" r="48755" b="1"/>
          <a:stretch>
            <a:fillRect/>
          </a:stretch>
        </p:blipFill>
        <p:spPr>
          <a:xfrm>
            <a:off x="7171460" y="270933"/>
            <a:ext cx="4546408" cy="59097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65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0AF3-8751-E533-2F01-3DFE32175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INSTAGRAM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61A4D-6975-897D-5B66-56783DC0A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46036"/>
            <a:ext cx="6762865" cy="352305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Instagram is a popular social networking platform used for sharing visual content such as images and videos.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generates large volumes of user interaction data including likes, comments and shares.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data is valuable for analyzing user behavior, engagement patterns and content performance.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D78D5-AD4A-09C0-5E83-95C2448E3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50" y="1122817"/>
            <a:ext cx="828000" cy="465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AC4FE-DB72-A4FD-BB91-BD2F0E91F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473" y="2346036"/>
            <a:ext cx="3804914" cy="2837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639B5-6F3F-6902-58CC-E406F288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564" y="3299148"/>
            <a:ext cx="1283854" cy="46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48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86FED-3AD5-669C-9BFE-E9627F8B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4DBB-8EAA-F7D7-0D1F-E3E6EDB2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72434-C8B6-5503-443E-F34481FAC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55273"/>
            <a:ext cx="10058400" cy="35138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Social media platforms like Instagram generate large amounts of user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This project uses SQL to analyze user activity, engagement and content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The goal is to derive insights that can help improve marketing strategies and enhance user experience.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88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8D57-934C-0428-51C9-33FB9095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73" y="1093123"/>
            <a:ext cx="3200400" cy="4263968"/>
          </a:xfrm>
        </p:spPr>
        <p:txBody>
          <a:bodyPr anchor="ctr">
            <a:normAutofit/>
          </a:bodyPr>
          <a:lstStyle/>
          <a:p>
            <a:r>
              <a:rPr lang="en-IN" sz="4400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C47B-8E5D-E80D-F536-1A247E468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2087418"/>
            <a:ext cx="6492240" cy="390190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project, I’m working as a data analyst at Meta where the goal is to analyze Instagram user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objective is to improve engagement, retention and user acquisition by identifying patterns in user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the analysis I will provide insights and recommendations to support targeted marketing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38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6838F-B981-EDDE-7DAB-FC6A90F0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117" y="553237"/>
            <a:ext cx="10058400" cy="1292815"/>
          </a:xfrm>
        </p:spPr>
        <p:txBody>
          <a:bodyPr>
            <a:normAutofit/>
          </a:bodyPr>
          <a:lstStyle/>
          <a:p>
            <a:r>
              <a:rPr lang="en-IN" dirty="0"/>
              <a:t>DATA ATTRIBUTES</a:t>
            </a:r>
            <a:br>
              <a:rPr lang="en-IN" dirty="0"/>
            </a:br>
            <a:r>
              <a:rPr lang="en-IN" sz="1600" dirty="0"/>
              <a:t>The dataset contain information about 7 tables. Below is an overview of the dataset.</a:t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C61EA-4586-D30F-A662-BF85585DB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723" y="1846052"/>
            <a:ext cx="3703782" cy="434109"/>
          </a:xfrm>
        </p:spPr>
        <p:txBody>
          <a:bodyPr>
            <a:normAutofit/>
          </a:bodyPr>
          <a:lstStyle/>
          <a:p>
            <a:r>
              <a:rPr lang="en-IN" b="1" dirty="0"/>
              <a:t>TABLES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D88C8-BDEC-AA36-0450-464D68AE8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0146" y="2262908"/>
            <a:ext cx="4839854" cy="404185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/>
              <a:t>Users Table </a:t>
            </a:r>
            <a:r>
              <a:rPr lang="en-IN" sz="1600" dirty="0"/>
              <a:t>: Information about users registered on the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/>
              <a:t>Photo Table </a:t>
            </a:r>
            <a:r>
              <a:rPr lang="en-IN" sz="1600" dirty="0"/>
              <a:t>: Information about the photos</a:t>
            </a:r>
            <a:br>
              <a:rPr lang="en-IN" sz="1600" dirty="0"/>
            </a:br>
            <a:r>
              <a:rPr lang="en-IN" sz="1600" dirty="0"/>
              <a:t> uploaded by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/>
              <a:t>Comments Table </a:t>
            </a:r>
            <a:r>
              <a:rPr lang="en-IN" sz="1600" dirty="0"/>
              <a:t>: Stores all comments made </a:t>
            </a:r>
            <a:br>
              <a:rPr lang="en-IN" sz="1600" dirty="0"/>
            </a:br>
            <a:r>
              <a:rPr lang="en-IN" sz="1600" dirty="0"/>
              <a:t>by users on photos.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/>
              <a:t>Likes Tables : </a:t>
            </a:r>
            <a:r>
              <a:rPr lang="en-IN" sz="1600" dirty="0"/>
              <a:t>Tracks which users liked which </a:t>
            </a:r>
            <a:br>
              <a:rPr lang="en-IN" sz="1600" dirty="0"/>
            </a:br>
            <a:r>
              <a:rPr lang="en-IN" sz="1600" dirty="0"/>
              <a:t>photos.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/>
              <a:t>Follows Table : </a:t>
            </a:r>
            <a:r>
              <a:rPr lang="en-IN" sz="1600" dirty="0"/>
              <a:t>Track users relationships</a:t>
            </a:r>
            <a:br>
              <a:rPr lang="en-IN" sz="1600" dirty="0"/>
            </a:br>
            <a:r>
              <a:rPr lang="en-IN" sz="1600" dirty="0"/>
              <a:t>(followers and </a:t>
            </a:r>
            <a:r>
              <a:rPr lang="en-IN" sz="1600" dirty="0" err="1"/>
              <a:t>followees</a:t>
            </a:r>
            <a:r>
              <a:rPr lang="en-IN" sz="16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/>
              <a:t>Tags Table : </a:t>
            </a:r>
            <a:r>
              <a:rPr lang="en-IN" sz="1600" dirty="0"/>
              <a:t>Stores unique tags that are</a:t>
            </a:r>
            <a:br>
              <a:rPr lang="en-IN" sz="1600" dirty="0"/>
            </a:br>
            <a:r>
              <a:rPr lang="en-IN" sz="1600" dirty="0"/>
              <a:t>associated with photos.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u="sng" dirty="0"/>
              <a:t>Photo Tags Table </a:t>
            </a:r>
            <a:r>
              <a:rPr lang="en-IN" sz="1600" dirty="0"/>
              <a:t>: Tags on photos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027A9D-B8D8-7DE4-B402-DCD9DFD45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72727" y="1760231"/>
            <a:ext cx="4937760" cy="736282"/>
          </a:xfrm>
        </p:spPr>
        <p:txBody>
          <a:bodyPr>
            <a:normAutofit/>
          </a:bodyPr>
          <a:lstStyle/>
          <a:p>
            <a:r>
              <a:rPr lang="en-IN" b="1" dirty="0"/>
              <a:t>COLUMNS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A8A70-DC50-7C58-C3B7-9C418ED49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72727" y="2410691"/>
            <a:ext cx="6179127" cy="3894071"/>
          </a:xfrm>
        </p:spPr>
        <p:txBody>
          <a:bodyPr>
            <a:normAutofit fontScale="85000" lnSpcReduction="20000"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comment_id</a:t>
            </a:r>
            <a:r>
              <a:rPr lang="en-US" b="1" dirty="0"/>
              <a:t> </a:t>
            </a:r>
            <a:r>
              <a:rPr lang="en-US" dirty="0"/>
              <a:t>: unique identifier for each comment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comment_text</a:t>
            </a:r>
            <a:r>
              <a:rPr lang="en-US" b="1" dirty="0"/>
              <a:t> </a:t>
            </a:r>
            <a:r>
              <a:rPr lang="en-US" dirty="0"/>
              <a:t>: text content of a given comment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user_id</a:t>
            </a:r>
            <a:r>
              <a:rPr lang="en-US" b="1" dirty="0"/>
              <a:t> </a:t>
            </a:r>
            <a:r>
              <a:rPr lang="en-US" dirty="0"/>
              <a:t>: unique identifier for each user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photo_id</a:t>
            </a:r>
            <a:r>
              <a:rPr lang="en-US" b="1" dirty="0"/>
              <a:t> </a:t>
            </a:r>
            <a:r>
              <a:rPr lang="en-US" dirty="0"/>
              <a:t>: unique identifier for each photo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created_at</a:t>
            </a:r>
            <a:r>
              <a:rPr lang="en-US" b="1" dirty="0"/>
              <a:t> </a:t>
            </a:r>
            <a:r>
              <a:rPr lang="en-US" dirty="0"/>
              <a:t>: date of interaction in the tables like, photos, tags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follower_id</a:t>
            </a:r>
            <a:r>
              <a:rPr lang="en-US" b="1" dirty="0"/>
              <a:t> </a:t>
            </a:r>
            <a:r>
              <a:rPr lang="en-US" dirty="0"/>
              <a:t>: </a:t>
            </a:r>
            <a:r>
              <a:rPr lang="en-US" dirty="0" err="1"/>
              <a:t>user_id</a:t>
            </a:r>
            <a:r>
              <a:rPr lang="en-US" dirty="0"/>
              <a:t> of the follower for a certain user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followee_id</a:t>
            </a:r>
            <a:r>
              <a:rPr lang="en-US" b="1" dirty="0"/>
              <a:t> : </a:t>
            </a:r>
            <a:r>
              <a:rPr lang="en-US" dirty="0" err="1"/>
              <a:t>user_id</a:t>
            </a:r>
            <a:r>
              <a:rPr lang="en-US" dirty="0"/>
              <a:t> of </a:t>
            </a:r>
            <a:r>
              <a:rPr lang="en-US" dirty="0" err="1"/>
              <a:t>followee</a:t>
            </a:r>
            <a:r>
              <a:rPr lang="en-US" dirty="0"/>
              <a:t> for a certain user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tag_id</a:t>
            </a:r>
            <a:r>
              <a:rPr lang="en-US" b="1" dirty="0"/>
              <a:t> : </a:t>
            </a:r>
            <a:r>
              <a:rPr lang="en-US" dirty="0"/>
              <a:t>unique identifier for each tag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image_url</a:t>
            </a:r>
            <a:r>
              <a:rPr lang="en-US" b="1" dirty="0"/>
              <a:t> : </a:t>
            </a:r>
            <a:r>
              <a:rPr lang="en-US" dirty="0"/>
              <a:t>link to the image posted on the platform</a:t>
            </a:r>
          </a:p>
          <a:p>
            <a:pPr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username :</a:t>
            </a:r>
            <a:r>
              <a:rPr lang="en-US" dirty="0"/>
              <a:t> username chosen by the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92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4C-5360-9B38-9333-AF068AE0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DATABASE SCHEMA </a:t>
            </a:r>
          </a:p>
        </p:txBody>
      </p:sp>
      <p:pic>
        <p:nvPicPr>
          <p:cNvPr id="4" name="Picture Placeholder 15">
            <a:extLst>
              <a:ext uri="{FF2B5EF4-FFF2-40B4-BE49-F238E27FC236}">
                <a16:creationId xmlns:a16="http://schemas.microsoft.com/office/drawing/2014/main" id="{80DC4EF4-1D74-04E1-2858-0B6243D8E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rcRect/>
          <a:stretch/>
        </p:blipFill>
        <p:spPr>
          <a:xfrm>
            <a:off x="2558471" y="2004291"/>
            <a:ext cx="6160655" cy="40270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717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75BE-8C77-1608-518B-273D9789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EBFE-FB99-5828-88DF-CA6056B39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QUALITY AND VALIDATION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E0DA-0B73-761E-BAA3-A8EACBDE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8108"/>
            <a:ext cx="10058400" cy="4184073"/>
          </a:xfrm>
        </p:spPr>
        <p:txBody>
          <a:bodyPr>
            <a:normAutofit fontScale="5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900" dirty="0"/>
              <a:t>The dataset was checked for data quality issues before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900" b="1" dirty="0"/>
              <a:t>No duplicates </a:t>
            </a:r>
            <a:r>
              <a:rPr lang="en-US" sz="2900" dirty="0"/>
              <a:t>records found in the dataset.</a:t>
            </a:r>
          </a:p>
          <a:p>
            <a:r>
              <a:rPr lang="en-US" sz="2900" dirty="0"/>
              <a:t>         -- check duplicates </a:t>
            </a:r>
          </a:p>
          <a:p>
            <a:r>
              <a:rPr lang="en-US" sz="2900" dirty="0"/>
              <a:t>             select id, count(*) from users                             </a:t>
            </a:r>
          </a:p>
          <a:p>
            <a:r>
              <a:rPr lang="en-US" sz="2900" dirty="0"/>
              <a:t>             group by id</a:t>
            </a:r>
          </a:p>
          <a:p>
            <a:r>
              <a:rPr lang="en-US" sz="2900" dirty="0"/>
              <a:t>             having count(*) &gt; 1;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900" b="1" dirty="0"/>
              <a:t>No missing (null) values </a:t>
            </a:r>
            <a:r>
              <a:rPr lang="en-US" sz="2900" dirty="0"/>
              <a:t>detected.</a:t>
            </a:r>
          </a:p>
          <a:p>
            <a:r>
              <a:rPr lang="en-US" sz="2900" dirty="0"/>
              <a:t>        -- check null values </a:t>
            </a:r>
          </a:p>
          <a:p>
            <a:r>
              <a:rPr lang="en-US" sz="2900" dirty="0"/>
              <a:t>            select count(*) from users</a:t>
            </a:r>
          </a:p>
          <a:p>
            <a:r>
              <a:rPr lang="en-US" sz="2900" dirty="0"/>
              <a:t>            where id is null;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900" dirty="0"/>
              <a:t>Data consistency verified across all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900" dirty="0"/>
              <a:t>Relationships between tables are properly maintained.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1417E5-FBBF-2B74-69FB-06CF22986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27871"/>
              </p:ext>
            </p:extLst>
          </p:nvPr>
        </p:nvGraphicFramePr>
        <p:xfrm>
          <a:off x="7693313" y="2593108"/>
          <a:ext cx="2235777" cy="183111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01540">
                  <a:extLst>
                    <a:ext uri="{9D8B030D-6E8A-4147-A177-3AD203B41FA5}">
                      <a16:colId xmlns:a16="http://schemas.microsoft.com/office/drawing/2014/main" val="3315681836"/>
                    </a:ext>
                  </a:extLst>
                </a:gridCol>
                <a:gridCol w="1034237">
                  <a:extLst>
                    <a:ext uri="{9D8B030D-6E8A-4147-A177-3AD203B41FA5}">
                      <a16:colId xmlns:a16="http://schemas.microsoft.com/office/drawing/2014/main" val="2914256253"/>
                    </a:ext>
                  </a:extLst>
                </a:gridCol>
              </a:tblGrid>
              <a:tr h="366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METRIC</a:t>
                      </a:r>
                      <a:endParaRPr lang="en-IN" sz="1100" b="1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COUNT</a:t>
                      </a:r>
                      <a:endParaRPr lang="en-IN" sz="1100" b="1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1380915"/>
                  </a:ext>
                </a:extLst>
              </a:tr>
              <a:tr h="366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Total Records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100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34967318"/>
                  </a:ext>
                </a:extLst>
              </a:tr>
              <a:tr h="366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Duplicates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6679454"/>
                  </a:ext>
                </a:extLst>
              </a:tr>
              <a:tr h="366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Null Values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5396470"/>
                  </a:ext>
                </a:extLst>
              </a:tr>
              <a:tr h="366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Valid Records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100</a:t>
                      </a:r>
                      <a:endParaRPr lang="en-IN" sz="1100" b="0" i="0" u="none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1486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77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A0B44-F66A-D72D-CE4C-B4627504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CCDA-E9D6-7CCB-A9EF-CE0800DA6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SUMMARY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B123A-1AF3-7EDF-D1D7-DD9CBB4E2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8108"/>
            <a:ext cx="10058400" cy="418407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The dataset consists of data of Instagram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It includes 7 tables : </a:t>
            </a:r>
          </a:p>
          <a:p>
            <a:pPr marL="0" indent="0">
              <a:buNone/>
            </a:pPr>
            <a:r>
              <a:rPr lang="en-IN" sz="1800" dirty="0"/>
              <a:t>     -  Users </a:t>
            </a:r>
          </a:p>
          <a:p>
            <a:pPr marL="0" indent="0">
              <a:buNone/>
            </a:pPr>
            <a:r>
              <a:rPr lang="en-IN" sz="1800" dirty="0"/>
              <a:t>     - Photos</a:t>
            </a:r>
          </a:p>
          <a:p>
            <a:pPr marL="0" indent="0">
              <a:buNone/>
            </a:pPr>
            <a:r>
              <a:rPr lang="en-IN" sz="1800" dirty="0"/>
              <a:t>     - Comments</a:t>
            </a:r>
          </a:p>
          <a:p>
            <a:pPr marL="0" indent="0">
              <a:buNone/>
            </a:pPr>
            <a:r>
              <a:rPr lang="en-IN" sz="1800" dirty="0"/>
              <a:t>     - Likes</a:t>
            </a:r>
          </a:p>
          <a:p>
            <a:pPr marL="0" indent="0">
              <a:buNone/>
            </a:pPr>
            <a:r>
              <a:rPr lang="en-IN" sz="1800" dirty="0"/>
              <a:t>     - Photos</a:t>
            </a:r>
          </a:p>
          <a:p>
            <a:pPr marL="0" indent="0">
              <a:buNone/>
            </a:pPr>
            <a:r>
              <a:rPr lang="en-IN" sz="1800" dirty="0"/>
              <a:t>     - Tags</a:t>
            </a:r>
          </a:p>
          <a:p>
            <a:pPr marL="0" indent="0">
              <a:buNone/>
            </a:pPr>
            <a:r>
              <a:rPr lang="en-IN" sz="1800" dirty="0"/>
              <a:t>     - Photo Tags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In total, the dataset contains data of </a:t>
            </a:r>
            <a:r>
              <a:rPr lang="en-IN" sz="1800" b="1" dirty="0"/>
              <a:t>100 Instagram users </a:t>
            </a:r>
            <a:r>
              <a:rPr lang="en-IN" sz="1800" dirty="0"/>
              <a:t>including their activity and engagement with the content.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7084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D7CDD-752C-271F-D8F4-51346463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0BF3-2BFA-E94E-DCB4-48851CA41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2408481"/>
            <a:ext cx="3050438" cy="57626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/>
              <a:t>SQL Techniques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6935B-987E-2675-E805-B468F02187F9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154954" y="3178706"/>
            <a:ext cx="3050438" cy="28483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Group by for 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Joins functions (inner join, left join and right joins)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CTE (Common Table Expressions)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Window Functions (Ranking)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E1542C-BCA5-DD4B-743A-56746D889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58992" y="2408481"/>
            <a:ext cx="3050438" cy="5762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/>
              <a:t>Data Processing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C39EE2-9741-EF86-FECC-58558887AE6B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658992" y="3178706"/>
            <a:ext cx="3050438" cy="28483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Handling null values coalesce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Excluding duplicates using distinct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Aggregation of number of likes, comments and posts.</a:t>
            </a:r>
          </a:p>
          <a:p>
            <a:endParaRPr lang="en-IN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EF320B-BDCA-5E05-402C-CB958EA347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82776" y="2408481"/>
            <a:ext cx="3051095" cy="57626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/>
              <a:t>Analysis Approach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36B6606-070B-D168-4DA9-E37542C007CB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982775" y="3178706"/>
            <a:ext cx="3051096" cy="28483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Identify Key metrics like rate of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Segmentation of users into different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Generating insights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423811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AAB7-67B1-3054-368E-6535835E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78" y="1425480"/>
            <a:ext cx="8453906" cy="2696632"/>
          </a:xfrm>
        </p:spPr>
        <p:txBody>
          <a:bodyPr>
            <a:normAutofit/>
          </a:bodyPr>
          <a:lstStyle/>
          <a:p>
            <a:r>
              <a:rPr lang="en-IN" sz="5400" dirty="0"/>
              <a:t>KEY METRICS AND VISUALISATION</a:t>
            </a:r>
          </a:p>
        </p:txBody>
      </p:sp>
      <p:pic>
        <p:nvPicPr>
          <p:cNvPr id="6" name="Graphic 5" descr="Bar chart with solid fill">
            <a:extLst>
              <a:ext uri="{FF2B5EF4-FFF2-40B4-BE49-F238E27FC236}">
                <a16:creationId xmlns:a16="http://schemas.microsoft.com/office/drawing/2014/main" id="{6B3FA640-30A1-9078-3EF7-6FB3356A6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0289" y="2619000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86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CE258-8819-0DC4-4675-9365F9E6E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ACTIVITY DISTRIBUTION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CC334-E8CF-8843-DABA-63DB8EC885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Highly engaged users dominate (~77%), indicating strong interaction levels on the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Content creators are very limited (~3%), showing a heavy dependency on a small group for content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Inactive + moderately active users (~20%) represent a clear opportunity for engagement improvement and growth.</a:t>
            </a:r>
            <a:endParaRPr lang="en-IN" sz="18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B0CFB32-DBC9-A104-B989-06388B81A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7698894"/>
              </p:ext>
            </p:extLst>
          </p:nvPr>
        </p:nvGraphicFramePr>
        <p:xfrm>
          <a:off x="6522719" y="2420004"/>
          <a:ext cx="4782589" cy="2909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796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653F-20D4-7A8C-0951-963DB4FC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6C95-99B9-9C51-FE6D-F133AADC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USERS BY ENGAGEMENT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2314E-EB85-22B8-063D-A0D5AE4FD6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Engagement is highly concentrated among top users with Eveline95 and Cesar93 leading significantly.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Higher posting activity directly correlates with higher engagement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Mid-tier users show potential to become top performers with targeted strategies.</a:t>
            </a:r>
            <a:endParaRPr lang="en-IN" sz="18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66FCAE8-4396-D80C-C31C-21BF788CA7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5942481"/>
              </p:ext>
            </p:extLst>
          </p:nvPr>
        </p:nvGraphicFramePr>
        <p:xfrm>
          <a:off x="6677890" y="2582335"/>
          <a:ext cx="4756727" cy="302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8621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42C2-1E1E-0A04-5148-091AB272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310D-21A0-155A-5250-A1547989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SEGMENTATION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45E11-C77D-77BD-8542-97864F3E7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8022" y="2730117"/>
            <a:ext cx="4937760" cy="32867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Content Creators show the highest engagement due to higher posting volume.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Highly Engaged Users contribute consistent interaction, forming the core active user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Engagement is skewed toward a small group of users indicating reliance on power users</a:t>
            </a:r>
            <a:endParaRPr lang="en-IN" sz="18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30B10A6-475F-AF2D-4CCE-7BA4D24DD0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135308"/>
              </p:ext>
            </p:extLst>
          </p:nvPr>
        </p:nvGraphicFramePr>
        <p:xfrm>
          <a:off x="5911272" y="2536154"/>
          <a:ext cx="628072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3140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C413-3E1F-0072-EA71-AF6D529C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5634-5A4B-4698-170F-373409C1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INFLUENCER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3DF81-C666-6F4E-8D3B-077BCEFEE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8022" y="2730117"/>
            <a:ext cx="4937760" cy="32867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Engagement is highly concentrated among a few top influencers, with the top user (Eveline95) leading significantly.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There is a clear performance gap between top and mid-level influencers indicating unequal contribution.</a:t>
            </a:r>
            <a:endParaRPr lang="en-IN" sz="18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39C5014-4B6A-EEB4-DB36-8FE42E4026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4239608"/>
              </p:ext>
            </p:extLst>
          </p:nvPr>
        </p:nvGraphicFramePr>
        <p:xfrm>
          <a:off x="6583680" y="2519218"/>
          <a:ext cx="481029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6458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8108-05B5-5FA5-44A7-C358FE5C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04E4E-97A4-770B-0C82-B40B98B2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ENGAGEMENT BY JOINING YEAR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5378F-80D5-15D7-091E-087F3A2D9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8022" y="2730117"/>
            <a:ext cx="4937760" cy="328676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2016 users dominate the platform with higher user count (65%).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Engagement is significantly higher : </a:t>
            </a:r>
          </a:p>
          <a:p>
            <a:r>
              <a:rPr lang="en-US" sz="1800" dirty="0"/>
              <a:t>    - Comments : 5077 vs 2411</a:t>
            </a:r>
          </a:p>
          <a:p>
            <a:r>
              <a:rPr lang="en-US" sz="1800" dirty="0"/>
              <a:t>    - Likes : 52 vs 25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graphicFrame>
        <p:nvGraphicFramePr>
          <p:cNvPr id="5" name="Content Placeholder 7">
            <a:extLst>
              <a:ext uri="{FF2B5EF4-FFF2-40B4-BE49-F238E27FC236}">
                <a16:creationId xmlns:a16="http://schemas.microsoft.com/office/drawing/2014/main" id="{701A551E-20D9-E274-1C02-847F96775EA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16996672"/>
              </p:ext>
            </p:extLst>
          </p:nvPr>
        </p:nvGraphicFramePr>
        <p:xfrm>
          <a:off x="5589037" y="2282923"/>
          <a:ext cx="5019869" cy="3343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07751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34A3-CD50-D04D-917C-367E1B06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C133-908E-3479-DD7B-DD0E4C5EF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USER SEGMENTATION BY NUMBER OF POSTS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A78CB-6995-F655-BCFA-ACC88BEAB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8022" y="2730117"/>
            <a:ext cx="4937760" cy="328676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Majority of users fall in low to moderate posting range (1-5 posts).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26 users have never posted indicating passive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Only 7 users are highly active (5+ posts).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738F9BA2-95B1-2A88-5C91-320AAC9D469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84603452"/>
              </p:ext>
            </p:extLst>
          </p:nvPr>
        </p:nvGraphicFramePr>
        <p:xfrm>
          <a:off x="6126480" y="2398135"/>
          <a:ext cx="4937125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37628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4E8E6-EDF4-3DD7-0852-3B015959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04FA-A9AD-D65D-6BE9-6A7D45B6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HASHTAG USAGE ANALYSIS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2940D-472D-852C-DE94-9F809C1D2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8022" y="2730117"/>
            <a:ext cx="4937760" cy="328676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 data was found in the </a:t>
            </a:r>
            <a:r>
              <a:rPr lang="en-US" sz="1800" dirty="0" err="1"/>
              <a:t>photo_tags</a:t>
            </a:r>
            <a:r>
              <a:rPr lang="en-US" sz="1800" dirty="0"/>
              <a:t>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absence of tag data indicates that users are not utilizing hashtags or tagging features.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178773D-1C6C-854A-B430-AD6F2E77E9A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r="2014" b="21140"/>
          <a:stretch>
            <a:fillRect/>
          </a:stretch>
        </p:blipFill>
        <p:spPr>
          <a:xfrm>
            <a:off x="6218238" y="2730117"/>
            <a:ext cx="4837689" cy="18880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20414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3B10-1984-0512-34A6-DBE25167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2E802-3089-212A-DB1F-E0D3BA042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438" y="2053793"/>
            <a:ext cx="3141878" cy="576262"/>
          </a:xfrm>
          <a:ln>
            <a:solidFill>
              <a:schemeClr val="bg2"/>
            </a:solidFill>
          </a:ln>
        </p:spPr>
        <p:txBody>
          <a:bodyPr/>
          <a:lstStyle/>
          <a:p>
            <a:pPr algn="ctr"/>
            <a:r>
              <a:rPr lang="en-IN" dirty="0"/>
              <a:t>USER RETENTION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F9804-D2C8-6788-7D30-9D4BE13B958F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2872510"/>
            <a:ext cx="3141879" cy="31545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Personalized content and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Feedback from inactive users to reduce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Time- based offers to re-engage users.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4987E-D167-5F7E-A28B-D51DC06ED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20357" y="2053793"/>
            <a:ext cx="3147009" cy="576262"/>
          </a:xfrm>
          <a:ln>
            <a:solidFill>
              <a:schemeClr val="bg2"/>
            </a:solidFill>
          </a:ln>
        </p:spPr>
        <p:txBody>
          <a:bodyPr/>
          <a:lstStyle/>
          <a:p>
            <a:pPr algn="ctr"/>
            <a:r>
              <a:rPr lang="en-IN" dirty="0"/>
              <a:t>USER ACQUISITION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01553D-207C-31FA-184D-234EBB0978E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2872509"/>
            <a:ext cx="3147009" cy="315454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Improve onboarding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Educate users on tags/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Referral program for new users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F7F385-4F25-028A-0E31-42AF3F0E55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3407" y="2053793"/>
            <a:ext cx="3145730" cy="576262"/>
          </a:xfrm>
          <a:ln>
            <a:solidFill>
              <a:schemeClr val="bg2"/>
            </a:solidFill>
          </a:ln>
        </p:spPr>
        <p:txBody>
          <a:bodyPr/>
          <a:lstStyle/>
          <a:p>
            <a:pPr algn="ctr"/>
            <a:r>
              <a:rPr lang="en-IN" dirty="0"/>
              <a:t>USER ENGAGEMENT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3E87E9-F0C7-FC03-A9C8-2DC1616D64D8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2872508"/>
            <a:ext cx="3145536" cy="315454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Reward active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Build community by </a:t>
            </a:r>
            <a:r>
              <a:rPr lang="en-IN" sz="1800" dirty="0" err="1"/>
              <a:t>organinzing</a:t>
            </a:r>
            <a:r>
              <a:rPr lang="en-IN" sz="1800" dirty="0"/>
              <a:t>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Collaborate with influencers</a:t>
            </a:r>
          </a:p>
        </p:txBody>
      </p:sp>
    </p:spTree>
    <p:extLst>
      <p:ext uri="{BB962C8B-B14F-4D97-AF65-F5344CB8AC3E}">
        <p14:creationId xmlns:p14="http://schemas.microsoft.com/office/powerpoint/2010/main" val="730133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9F32-2DBE-31FA-84CF-E941EE89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6260-B4AC-D8DF-F852-57AD71AB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73" y="1093123"/>
            <a:ext cx="3200400" cy="4263968"/>
          </a:xfrm>
        </p:spPr>
        <p:txBody>
          <a:bodyPr anchor="ctr">
            <a:normAutofit/>
          </a:bodyPr>
          <a:lstStyle/>
          <a:p>
            <a:r>
              <a:rPr lang="en-IN" sz="4400" dirty="0"/>
              <a:t>CONCLUSION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88E8-20A5-71EA-71B8-6B4B683D4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2087418"/>
            <a:ext cx="6492240" cy="390190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Social media platforms like Instagram generate large amounts of user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This project uses SQL to analyze user activity, engagement and content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The goal is to derive insights that can help improve marketing strategies and enhance user experience.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426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305B0-8683-585A-4F8A-1D9A4EC9B642}"/>
              </a:ext>
            </a:extLst>
          </p:cNvPr>
          <p:cNvSpPr txBox="1"/>
          <p:nvPr/>
        </p:nvSpPr>
        <p:spPr>
          <a:xfrm>
            <a:off x="2854037" y="2429164"/>
            <a:ext cx="629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361676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4B8C88-7AFD-4F93-AF50-E36A0AADA3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C0CEB4-BFAC-4014-9B69-2CFFE0B783D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F666C14-7219-46F1-8169-9E45DA110A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1578</TotalTime>
  <Words>1023</Words>
  <Application>Microsoft Office PowerPoint</Application>
  <PresentationFormat>Widescreen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Retrospect</vt:lpstr>
      <vt:lpstr>SQL PROJECT : INSTAGRAM USER DATA ANALYSIS  </vt:lpstr>
      <vt:lpstr>ABOUT INSTAGRAM  </vt:lpstr>
      <vt:lpstr>INTRODUCTION   </vt:lpstr>
      <vt:lpstr>PROBLEM STATEMENT </vt:lpstr>
      <vt:lpstr>DATA ATTRIBUTES The dataset contain information about 7 tables. Below is an overview of the dataset. </vt:lpstr>
      <vt:lpstr>             DATABASE SCHEMA </vt:lpstr>
      <vt:lpstr>DATA QUALITY AND VALIDATION   </vt:lpstr>
      <vt:lpstr>DATASET SUMMARY  </vt:lpstr>
      <vt:lpstr>METHODOLOGY</vt:lpstr>
      <vt:lpstr>KEY METRICS AND VISUALISATION</vt:lpstr>
      <vt:lpstr>USER ACTIVITY DISTRIBUTION</vt:lpstr>
      <vt:lpstr>TOP USERS BY ENGAGEMENT</vt:lpstr>
      <vt:lpstr>USER SEGMENTATION ANALYSIS</vt:lpstr>
      <vt:lpstr>TOP INFLUENCER ANALYSIS</vt:lpstr>
      <vt:lpstr>USER ENGAGEMENT BY JOINING YEAR</vt:lpstr>
      <vt:lpstr>USER SEGMENTATION BY NUMBER OF POSTS</vt:lpstr>
      <vt:lpstr>HASHTAG USAGE ANALYSIS </vt:lpstr>
      <vt:lpstr>RECOMMENDATIONS</vt:lpstr>
      <vt:lpstr>CONCLUSION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harmanpreet kaur</dc:creator>
  <cp:lastModifiedBy>harmanpreet kaur</cp:lastModifiedBy>
  <cp:revision>1</cp:revision>
  <dcterms:created xsi:type="dcterms:W3CDTF">2026-04-22T06:55:32Z</dcterms:created>
  <dcterms:modified xsi:type="dcterms:W3CDTF">2026-04-23T09:13:33Z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